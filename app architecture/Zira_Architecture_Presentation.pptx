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9768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640080"/>
            <a:ext cx="283464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2148840"/>
            <a:ext cx="2331720" cy="96012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83879" y="3749039"/>
            <a:ext cx="2971800" cy="96012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15400" y="5230368"/>
            <a:ext cx="2103120" cy="731520"/>
          </a:xfrm>
          <a:prstGeom prst="rect">
            <a:avLst/>
          </a:prstGeom>
          <a:solidFill>
            <a:srgbClr val="451A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10896"/>
            <a:ext cx="33832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7DD3FC"/>
                </a:solidFill>
                <a:latin typeface="Aptos"/>
              </a:rPr>
              <a:t>ARCHITECTURE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566928"/>
            <a:ext cx="1088136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Zira Agile Task Management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115568"/>
            <a:ext cx="1005840" cy="50292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508760"/>
            <a:ext cx="621792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Generated from the current repository architecture map for frontend, backend, and database layers.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43200"/>
            <a:ext cx="260604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React frontend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Routes, layout, dashboards, Kanban, tasks, admin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74320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3182112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7DD3FC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2743200"/>
            <a:ext cx="242316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Express API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Routes, controllers, JWT guards, reporting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2743200"/>
            <a:ext cx="64008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82112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86EFAC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2743200"/>
            <a:ext cx="242316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SQL Server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Roles, users, projects, tasks, remarks, 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2743200"/>
            <a:ext cx="64008" cy="1234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272784"/>
            <a:ext cx="411480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Source: app architecture/ARCHITECTURE.md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254496"/>
            <a:ext cx="411480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3832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1F2A"/>
                </a:solidFill>
                <a:latin typeface="Aptos"/>
              </a:rPr>
              <a:t>Architecture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058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57784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97A"/>
                </a:solidFill>
                <a:latin typeface="Aptos"/>
              </a:rPr>
              <a:t>Source: app architecture/ARCHITECTURE.md   | 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379476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400" b="1">
                <a:solidFill>
                  <a:srgbClr val="2563EB"/>
                </a:solidFill>
                <a:latin typeface="Aptos Display"/>
              </a:rPr>
              <a:t>Primary flow</a:t>
            </a:r>
          </a:p>
          <a:p>
            <a:pPr>
              <a:spcBef>
                <a:spcPts val="400"/>
              </a:spcBef>
              <a:defRPr sz="1200">
                <a:solidFill>
                  <a:srgbClr val="5B697A"/>
                </a:solidFill>
                <a:latin typeface="Aptos"/>
              </a:defRPr>
            </a:pPr>
            <a:r>
              <a:t>Browser → React app → Axios client → Express API → SQL Server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54480"/>
            <a:ext cx="6400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45152" y="1554480"/>
            <a:ext cx="28346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Application domains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Dashboards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Kanban board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Task list and reports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Admin users and projects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5152" y="1554480"/>
            <a:ext cx="64008" cy="187451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08392" y="1554480"/>
            <a:ext cx="28346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Backend domains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Auth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Users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Tasks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Projects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Dashboard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08392" y="1554480"/>
            <a:ext cx="64008" cy="187451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749039"/>
            <a:ext cx="48920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Security model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JWT is attached by api.js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protect middleware reloads active user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requireRole controls admin/presenter access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Presenter mode blocks non-GET task mutations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749039"/>
            <a:ext cx="64008" cy="1783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06440" y="3749039"/>
            <a:ext cx="4709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Data model center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Users, Projects, and Tasks are the core entities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ProjectMembers models membership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TaskComments, TaskRemarks, and TaskHistory capture collaboration and change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3749039"/>
            <a:ext cx="64008" cy="17830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3832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SYSTEM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1F2A"/>
                </a:solidFill>
                <a:latin typeface="Aptos"/>
              </a:rPr>
              <a:t>System Request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058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57784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97A"/>
                </a:solidFill>
                <a:latin typeface="Aptos"/>
              </a:rPr>
              <a:t>Source: app architecture/ARCHITECTURE.md   | 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65960"/>
            <a:ext cx="1417320" cy="13258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181F2A"/>
                </a:solidFill>
                <a:latin typeface="Aptos Display"/>
              </a:rPr>
              <a:t>Browser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User session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Page navigation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965960"/>
            <a:ext cx="6400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5376" y="2450592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8256" y="1965960"/>
            <a:ext cx="1417320" cy="132588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181F2A"/>
                </a:solidFill>
                <a:latin typeface="Aptos Display"/>
              </a:rPr>
              <a:t>React pages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Dashboard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Kanban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Tasks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8256" y="1965960"/>
            <a:ext cx="64008" cy="1325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2450592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891B2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12464" y="1965960"/>
            <a:ext cx="1417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181F2A"/>
                </a:solidFill>
                <a:latin typeface="Aptos Display"/>
              </a:rPr>
              <a:t>Services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authService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taskService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projectService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2464" y="1965960"/>
            <a:ext cx="64008" cy="1325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450592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891B2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76672" y="1965960"/>
            <a:ext cx="1417320" cy="1325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181F2A"/>
                </a:solidFill>
                <a:latin typeface="Aptos Display"/>
              </a:rPr>
              <a:t>api.js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Axios client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JWT interceptor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76672" y="1965960"/>
            <a:ext cx="64008" cy="1325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450592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D97706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965960"/>
            <a:ext cx="1417320" cy="13258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181F2A"/>
                </a:solidFill>
                <a:latin typeface="Aptos Display"/>
              </a:rPr>
              <a:t>Express API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server.js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/api routes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965960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2450592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6A34A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5088" y="1965960"/>
            <a:ext cx="1417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181F2A"/>
                </a:solidFill>
                <a:latin typeface="Aptos Display"/>
              </a:rPr>
              <a:t>Controllers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Auth, User, Task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Project, Dashboard, 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05088" y="1965960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86416" y="2450592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6A34A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69296" y="1965960"/>
            <a:ext cx="1417320" cy="132588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181F2A"/>
                </a:solidFill>
                <a:latin typeface="Aptos Display"/>
              </a:rPr>
              <a:t>SQL Server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mssql pool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database entities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69296" y="1965960"/>
            <a:ext cx="64008" cy="13258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" y="3977639"/>
            <a:ext cx="4617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Route and permission guards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Protected APIs pass through protect; admin/presenter restrictions use requireRole; task write attempts are screened by blockReadOnlyMutations.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3977639"/>
            <a:ext cx="64008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89320" y="3977639"/>
            <a:ext cx="4526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Operational scripts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syncKnownUsers, migrateLegacyRemarks, and migrateToAzure connect through the same db.js pool.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3977639"/>
            <a:ext cx="64008" cy="1051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3832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REACT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1F2A"/>
                </a:solidFill>
                <a:latin typeface="Aptos"/>
              </a:rPr>
              <a:t>Frontend Route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058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57784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97A"/>
                </a:solidFill>
                <a:latin typeface="Aptos"/>
              </a:rPr>
              <a:t>Source: app architecture/ARCHITECTURE.md   | 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2103120" cy="1417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2563EB"/>
                </a:solidFill>
                <a:latin typeface="Aptos Display"/>
              </a:rPr>
              <a:t>App.jsx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Public route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ProtectedRoute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AdminRoute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Fallback redirect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572768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34440"/>
            <a:ext cx="2057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/login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Login page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AuthService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234440"/>
            <a:ext cx="64008" cy="868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2423160"/>
            <a:ext cx="2057400" cy="105156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0891B2"/>
                </a:solidFill>
                <a:latin typeface="Aptos Display"/>
              </a:rPr>
              <a:t>AuthenticatedLayout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Sidebar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Navbar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Page outlet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423160"/>
            <a:ext cx="64008" cy="10515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2816352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25312" y="196596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User routes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/ → HomeRedirect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/dashboard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/kanban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/tasks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25312" y="196596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816352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9952" y="1965960"/>
            <a:ext cx="2331720" cy="14173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6A34A"/>
                </a:solidFill>
                <a:latin typeface="Aptos Display"/>
              </a:rPr>
              <a:t>Admin routes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/admin/dashboard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/admin/users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/admin/projects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59952" y="196596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20240" y="4572000"/>
            <a:ext cx="8138160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Unregistered pages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Reports.jsx exists but is not mounted in App.jsx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Graphify.jsx is empty and not mounted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4572000"/>
            <a:ext cx="64008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3832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COMPONENT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1F2A"/>
                </a:solidFill>
                <a:latin typeface="Aptos"/>
              </a:rPr>
              <a:t>Frontend 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058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57784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97A"/>
                </a:solidFill>
                <a:latin typeface="Aptos"/>
              </a:rPr>
              <a:t>Source: app architecture/ARCHITECTURE.md   | 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36192"/>
            <a:ext cx="2423160" cy="2788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400" b="1">
                <a:solidFill>
                  <a:srgbClr val="2563EB"/>
                </a:solidFill>
                <a:latin typeface="Aptos Display"/>
              </a:rPr>
              <a:t>Dashboards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AdminDashboard / UserDashboard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DashboardView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StatCard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Recharts charts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dashboardService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64008" cy="2788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536192"/>
            <a:ext cx="2423160" cy="278892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400" b="1">
                <a:solidFill>
                  <a:srgbClr val="0891B2"/>
                </a:solidFill>
                <a:latin typeface="Aptos Display"/>
              </a:rPr>
              <a:t>Kanban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KanbanBoard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KanbanColumn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TaskCard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TaskModal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task/project/user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536192"/>
            <a:ext cx="64008" cy="2788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536192"/>
            <a:ext cx="2423160" cy="2788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400" b="1">
                <a:solidFill>
                  <a:srgbClr val="16A34A"/>
                </a:solidFill>
                <a:latin typeface="Aptos Display"/>
              </a:rPr>
              <a:t>Tasks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FilterBar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DataTable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TaskModal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ConfirmModal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reportService export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36192"/>
            <a:ext cx="64008" cy="2788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98280" y="1536192"/>
            <a:ext cx="2423160" cy="27889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400" b="1">
                <a:solidFill>
                  <a:srgbClr val="6D28D9"/>
                </a:solidFill>
                <a:latin typeface="Aptos Display"/>
              </a:rPr>
              <a:t>Admin pages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Users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Projects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DataTable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ConfirmModal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user/project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536192"/>
            <a:ext cx="64008" cy="2788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4846320"/>
            <a:ext cx="4892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Shared application shell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main.jsx wraps ThemeContext and AuthContext; App.jsx mounts Sidebar, Navbar, ProtectedRoute, and AdminRoute.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846320"/>
            <a:ext cx="6400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4846320"/>
            <a:ext cx="4892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Shared service boundary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authService, dashboardService, taskService, projectService, userService, and reportService all converge on api.js.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846320"/>
            <a:ext cx="64008" cy="8229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3832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EXPRESS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1F2A"/>
                </a:solidFill>
                <a:latin typeface="Aptos"/>
              </a:rPr>
              <a:t>Backend API And Guards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058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57784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97A"/>
                </a:solidFill>
                <a:latin typeface="Aptos"/>
              </a:rPr>
              <a:t>Source: app architecture/ARCHITECTURE.md   | 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868680" cy="310896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/api/auth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POST /login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POST /register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GET /me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POST /logout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61688" y="178308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/api/users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protect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requireRole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userController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783080"/>
            <a:ext cx="64008" cy="1143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5008" y="178308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/api/tasks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protect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blockReadOnlyMutations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taskController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783080"/>
            <a:ext cx="64008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355848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/api/projects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protect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admin writes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projectController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355848"/>
            <a:ext cx="64008" cy="1143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61688" y="3355848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/api/dashboard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protect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admin endpoint requires admin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dashboardController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3355848"/>
            <a:ext cx="64008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5008" y="3355848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/api/reports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protect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GET /export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reportController + ExcelJS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3355848"/>
            <a:ext cx="64008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65960" y="5349240"/>
            <a:ext cx="813816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Shared database access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Controllers, middleware, and health checks call config/db.js to use the mssql connection pool.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5349240"/>
            <a:ext cx="64008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3832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SQL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1F2A"/>
                </a:solidFill>
                <a:latin typeface="Aptos"/>
              </a:rPr>
              <a:t>Database Entity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058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57784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97A"/>
                </a:solidFill>
                <a:latin typeface="Aptos"/>
              </a:rPr>
              <a:t>Source: app architecture/ARCHITECTURE.md   | 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44752"/>
            <a:ext cx="1508760" cy="8229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6D28D9"/>
                </a:solidFill>
                <a:latin typeface="Aptos Display"/>
              </a:rPr>
              <a:t>Roles</a:t>
            </a:r>
          </a:p>
          <a:p>
            <a:pPr>
              <a:spcBef>
                <a:spcPts val="400"/>
              </a:spcBef>
              <a:defRPr sz="850">
                <a:solidFill>
                  <a:srgbClr val="5B697A"/>
                </a:solidFill>
                <a:latin typeface="Aptos"/>
              </a:defRPr>
            </a:pPr>
            <a:r>
              <a:t>role_id PK</a:t>
            </a:r>
          </a:p>
          <a:p>
            <a:pPr>
              <a:spcBef>
                <a:spcPts val="400"/>
              </a:spcBef>
              <a:defRPr sz="850">
                <a:solidFill>
                  <a:srgbClr val="5B697A"/>
                </a:solidFill>
                <a:latin typeface="Aptos"/>
              </a:defRPr>
            </a:pPr>
            <a:r>
              <a:t>role_name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44752"/>
            <a:ext cx="64008" cy="8229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1700784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D28D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25880"/>
            <a:ext cx="1874519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2563EB"/>
                </a:solidFill>
                <a:latin typeface="Aptos Display"/>
              </a:rPr>
              <a:t>Users</a:t>
            </a:r>
          </a:p>
          <a:p>
            <a:pPr>
              <a:spcBef>
                <a:spcPts val="400"/>
              </a:spcBef>
              <a:defRPr sz="850">
                <a:solidFill>
                  <a:srgbClr val="5B697A"/>
                </a:solidFill>
                <a:latin typeface="Aptos"/>
              </a:defRPr>
            </a:pPr>
            <a:r>
              <a:t>user_id PK</a:t>
            </a:r>
          </a:p>
          <a:p>
            <a:pPr>
              <a:spcBef>
                <a:spcPts val="400"/>
              </a:spcBef>
              <a:defRPr sz="850">
                <a:solidFill>
                  <a:srgbClr val="5B697A"/>
                </a:solidFill>
                <a:latin typeface="Aptos"/>
              </a:defRPr>
            </a:pPr>
            <a:r>
              <a:t>email, status</a:t>
            </a:r>
          </a:p>
          <a:p>
            <a:pPr>
              <a:spcBef>
                <a:spcPts val="400"/>
              </a:spcBef>
              <a:defRPr sz="850">
                <a:solidFill>
                  <a:srgbClr val="5B697A"/>
                </a:solidFill>
                <a:latin typeface="Aptos"/>
              </a:defRPr>
            </a:pPr>
            <a:r>
              <a:t>role_id FK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32588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700784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325880"/>
            <a:ext cx="1874519" cy="105156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0891B2"/>
                </a:solidFill>
                <a:latin typeface="Aptos Display"/>
              </a:rPr>
              <a:t>Projects</a:t>
            </a:r>
          </a:p>
          <a:p>
            <a:pPr>
              <a:spcBef>
                <a:spcPts val="400"/>
              </a:spcBef>
              <a:defRPr sz="850">
                <a:solidFill>
                  <a:srgbClr val="5B697A"/>
                </a:solidFill>
                <a:latin typeface="Aptos"/>
              </a:defRPr>
            </a:pPr>
            <a:r>
              <a:t>project_id PK</a:t>
            </a:r>
          </a:p>
          <a:p>
            <a:pPr>
              <a:spcBef>
                <a:spcPts val="400"/>
              </a:spcBef>
              <a:defRPr sz="850">
                <a:solidFill>
                  <a:srgbClr val="5B697A"/>
                </a:solidFill>
                <a:latin typeface="Aptos"/>
              </a:defRPr>
            </a:pPr>
            <a:r>
              <a:t>created_by FK</a:t>
            </a:r>
          </a:p>
          <a:p>
            <a:pPr>
              <a:spcBef>
                <a:spcPts val="400"/>
              </a:spcBef>
              <a:defRPr sz="850">
                <a:solidFill>
                  <a:srgbClr val="5B697A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1325880"/>
            <a:ext cx="64008" cy="10515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0608" y="1700784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891B2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234440"/>
            <a:ext cx="2057400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16A34A"/>
                </a:solidFill>
                <a:latin typeface="Aptos Display"/>
              </a:rPr>
              <a:t>Tasks</a:t>
            </a:r>
          </a:p>
          <a:p>
            <a:pPr>
              <a:spcBef>
                <a:spcPts val="400"/>
              </a:spcBef>
              <a:defRPr sz="830">
                <a:solidFill>
                  <a:srgbClr val="5B697A"/>
                </a:solidFill>
                <a:latin typeface="Aptos"/>
              </a:defRPr>
            </a:pPr>
            <a:r>
              <a:t>task_id PK</a:t>
            </a:r>
          </a:p>
          <a:p>
            <a:pPr>
              <a:spcBef>
                <a:spcPts val="400"/>
              </a:spcBef>
              <a:defRPr sz="830">
                <a:solidFill>
                  <a:srgbClr val="5B697A"/>
                </a:solidFill>
                <a:latin typeface="Aptos"/>
              </a:defRPr>
            </a:pPr>
            <a:r>
              <a:t>assigned_user_id FK</a:t>
            </a:r>
          </a:p>
          <a:p>
            <a:pPr>
              <a:spcBef>
                <a:spcPts val="400"/>
              </a:spcBef>
              <a:defRPr sz="830">
                <a:solidFill>
                  <a:srgbClr val="5B697A"/>
                </a:solidFill>
                <a:latin typeface="Aptos"/>
              </a:defRPr>
            </a:pPr>
            <a:r>
              <a:t>project_id FK</a:t>
            </a:r>
          </a:p>
          <a:p>
            <a:pPr>
              <a:spcBef>
                <a:spcPts val="400"/>
              </a:spcBef>
              <a:defRPr sz="830">
                <a:solidFill>
                  <a:srgbClr val="5B697A"/>
                </a:solidFill>
                <a:latin typeface="Aptos"/>
              </a:defRPr>
            </a:pPr>
            <a:r>
              <a:t>status, priority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1234440"/>
            <a:ext cx="64008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50208" y="2971800"/>
            <a:ext cx="2148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181F2A"/>
                </a:solidFill>
                <a:latin typeface="Aptos Display"/>
              </a:rPr>
              <a:t>ProjectMembers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project_member_id PK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project_id FK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user_id FK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0208" y="2971800"/>
            <a:ext cx="64008" cy="914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297180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181F2A"/>
                </a:solidFill>
                <a:latin typeface="Aptos Display"/>
              </a:rPr>
              <a:t>TaskComments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comment_id PK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task_id FK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user_id FK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2971800"/>
            <a:ext cx="6400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49640" y="297180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181F2A"/>
                </a:solidFill>
                <a:latin typeface="Aptos Display"/>
              </a:rPr>
              <a:t>TaskRemarks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remark_id PK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remark_date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task_id/user_id FK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71800"/>
            <a:ext cx="6400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434340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181F2A"/>
                </a:solidFill>
                <a:latin typeface="Aptos Display"/>
              </a:rPr>
              <a:t>TaskHistory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history_id PK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changed_by FK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task_id FK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4343400"/>
            <a:ext cx="64008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49640" y="434340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00" b="1">
                <a:solidFill>
                  <a:srgbClr val="181F2A"/>
                </a:solidFill>
                <a:latin typeface="Aptos Display"/>
              </a:rPr>
              <a:t>ExcelImports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import_id PK</a:t>
            </a:r>
          </a:p>
          <a:p>
            <a:pPr>
              <a:spcBef>
                <a:spcPts val="400"/>
              </a:spcBef>
              <a:defRPr sz="880">
                <a:solidFill>
                  <a:srgbClr val="5B697A"/>
                </a:solidFill>
                <a:latin typeface="Aptos"/>
              </a:defRPr>
            </a:pPr>
            <a:r>
              <a:t>imported_by FK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49640" y="4343400"/>
            <a:ext cx="64008" cy="914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4617720"/>
            <a:ext cx="493776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50" b="1">
                <a:solidFill>
                  <a:srgbClr val="181F2A"/>
                </a:solidFill>
                <a:latin typeface="Aptos Display"/>
              </a:rPr>
              <a:t>Relationship pattern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Users create projects and tasks, join projects through ProjectMembers, and author task comments, remarks, and history records.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617720"/>
            <a:ext cx="64008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3832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SECURITY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1F2A"/>
                </a:solidFill>
                <a:latin typeface="Aptos"/>
              </a:rPr>
              <a:t>Authentication And Permission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058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57784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97A"/>
                </a:solidFill>
                <a:latin typeface="Aptos"/>
              </a:rPr>
              <a:t>Source: app architecture/ARCHITECTURE.md   | 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331720" cy="1463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2563EB"/>
                </a:solidFill>
                <a:latin typeface="Aptos Display"/>
              </a:rPr>
              <a:t>Login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authService calls /api/auth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JWT/session state is stored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74519"/>
            <a:ext cx="6400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2450592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1874519"/>
            <a:ext cx="2331720" cy="146304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0891B2"/>
                </a:solidFill>
                <a:latin typeface="Aptos Display"/>
              </a:rPr>
              <a:t>Request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api.js attaches saved token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Axios interceptor handles auth header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287" y="1874519"/>
            <a:ext cx="64008" cy="1463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3016" y="2450592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891B2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874519"/>
            <a:ext cx="2331720" cy="14630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6A34A"/>
                </a:solidFill>
                <a:latin typeface="Aptos Display"/>
              </a:rPr>
              <a:t>Protect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JWT is verified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Active user is reloaded from SQL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7" y="1874519"/>
            <a:ext cx="64008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6" y="2450592"/>
            <a:ext cx="3200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6A34A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5128" y="1874519"/>
            <a:ext cx="2331720" cy="1463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D97706"/>
                </a:solidFill>
                <a:latin typeface="Aptos Display"/>
              </a:rPr>
              <a:t>Authorize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requireRole gates admin/presenter reads</a:t>
            </a:r>
          </a:p>
          <a:p>
            <a:pPr>
              <a:spcBef>
                <a:spcPts val="400"/>
              </a:spcBef>
              <a:defRPr sz="950">
                <a:solidFill>
                  <a:srgbClr val="5B697A"/>
                </a:solidFill>
                <a:latin typeface="Aptos"/>
              </a:defRPr>
            </a:pPr>
            <a:r>
              <a:t>Task write guard blocks read-only 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5128" y="1874519"/>
            <a:ext cx="64008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315968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Presenter mode</a:t>
            </a:r>
          </a:p>
          <a:p>
            <a:pPr>
              <a:spcBef>
                <a:spcPts val="400"/>
              </a:spcBef>
              <a:defRPr sz="1000">
                <a:solidFill>
                  <a:srgbClr val="5B697A"/>
                </a:solidFill>
                <a:latin typeface="Aptos"/>
              </a:defRPr>
            </a:pPr>
            <a:r>
              <a:t>Represented in auth context and JWT/session handling.</a:t>
            </a:r>
          </a:p>
          <a:p>
            <a:pPr>
              <a:spcBef>
                <a:spcPts val="400"/>
              </a:spcBef>
              <a:defRPr sz="1000">
                <a:solidFill>
                  <a:srgbClr val="5B697A"/>
                </a:solidFill>
                <a:latin typeface="Aptos"/>
              </a:defRPr>
            </a:pPr>
            <a:r>
              <a:t>Non-GET task mutations are blocked by blockReadOnlyMutations.</a:t>
            </a:r>
          </a:p>
          <a:p>
            <a:pPr>
              <a:spcBef>
                <a:spcPts val="400"/>
              </a:spcBef>
              <a:defRPr sz="1000">
                <a:solidFill>
                  <a:srgbClr val="5B697A"/>
                </a:solidFill>
                <a:latin typeface="Aptos"/>
              </a:defRPr>
            </a:pPr>
            <a:r>
              <a:t>The database schema defines admin and user roles; presenter behavior lives in application/session logic.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315968"/>
            <a:ext cx="64008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27648" y="4315968"/>
            <a:ext cx="4572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Trust boundary</a:t>
            </a:r>
          </a:p>
          <a:p>
            <a:pPr>
              <a:spcBef>
                <a:spcPts val="400"/>
              </a:spcBef>
              <a:defRPr sz="1000">
                <a:solidFill>
                  <a:srgbClr val="5B697A"/>
                </a:solidFill>
                <a:latin typeface="Aptos"/>
              </a:defRPr>
            </a:pPr>
            <a:r>
              <a:t>Client-side route guards improve UX, but backend protect/requireRole middleware owns enforcement for API access.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7648" y="4315968"/>
            <a:ext cx="64008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3832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ARCHITECTURE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1F2A"/>
                </a:solidFill>
                <a:latin typeface="Aptos"/>
              </a:rPr>
              <a:t>Current Notes And Follow-Ups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058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57784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97A"/>
                </a:solidFill>
                <a:latin typeface="Aptos"/>
              </a:rPr>
              <a:t>Source: app architecture/ARCHITECTURE.md   | 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72768"/>
            <a:ext cx="4617720" cy="1234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400" b="1">
                <a:solidFill>
                  <a:srgbClr val="D97706"/>
                </a:solidFill>
                <a:latin typeface="Aptos Display"/>
              </a:rPr>
              <a:t>Mounted reporting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Reports.jsx can export Excel through reportService, but it is not currently mounted in App.jsx.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572768"/>
            <a:ext cx="64008" cy="1234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72768"/>
            <a:ext cx="4617720" cy="12344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400" b="1">
                <a:solidFill>
                  <a:srgbClr val="6D28D9"/>
                </a:solidFill>
                <a:latin typeface="Aptos Display"/>
              </a:rPr>
              <a:t>Graphify page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Graphify.jsx exists as an empty page file and is not mounted.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72768"/>
            <a:ext cx="64008" cy="1234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401568"/>
            <a:ext cx="4617720" cy="123444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400" b="1">
                <a:solidFill>
                  <a:srgbClr val="E11D48"/>
                </a:solidFill>
                <a:latin typeface="Aptos Display"/>
              </a:rPr>
              <a:t>Presenter role model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The database schema only defines admin and user; presenter is handled in app/session logic.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401568"/>
            <a:ext cx="64008" cy="1234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401568"/>
            <a:ext cx="4617720" cy="12344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400" b="1">
                <a:solidFill>
                  <a:srgbClr val="2563EB"/>
                </a:solidFill>
                <a:latin typeface="Aptos Display"/>
              </a:rPr>
              <a:t>Generated map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The architecture map reflects current code under frontend/src, backend/src, and database.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401568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20240" y="5532120"/>
            <a:ext cx="8001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250" b="1">
                <a:solidFill>
                  <a:srgbClr val="181F2A"/>
                </a:solidFill>
                <a:latin typeface="Aptos Display"/>
              </a:rPr>
              <a:t>Suggested deck usage</a:t>
            </a:r>
          </a:p>
          <a:p>
            <a:pPr>
              <a:spcBef>
                <a:spcPts val="400"/>
              </a:spcBef>
              <a:defRPr sz="980">
                <a:solidFill>
                  <a:srgbClr val="5B697A"/>
                </a:solidFill>
                <a:latin typeface="Aptos"/>
              </a:defRPr>
            </a:pPr>
            <a:r>
              <a:t>Use slides 2-3 for stakeholder overview, slides 4-8 for engineering walkthrough, and slide 9 for next-step planning.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5532120"/>
            <a:ext cx="64008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3832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502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1F2A"/>
                </a:solidFill>
                <a:latin typeface="Aptos"/>
              </a:rPr>
              <a:t>Source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0058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57784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97A"/>
                </a:solidFill>
                <a:latin typeface="Aptos"/>
              </a:rPr>
              <a:t>Source: app architecture/ARCHITECTURE.md   | 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72768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Frontend source roots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frontend/src/main.jsx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frontend/src/App.jsx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frontend/src/components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frontend/src/services/api.js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72768"/>
            <a:ext cx="64008" cy="1828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572768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Backend source roots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backend/src/server.js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backend/src/routes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backend/src/controllers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backend/src/middleware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backend/src/config/db.js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572768"/>
            <a:ext cx="64008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1572768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Database and scripts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database/schema.sql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syncKnownUsers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migrateLegacyRemarks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migrateToAzure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572768"/>
            <a:ext cx="64008" cy="1828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48840" y="4251960"/>
            <a:ext cx="781812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09728" bIns="73152"/>
          <a:lstStyle/>
          <a:p>
            <a:pPr algn="ctr"/>
            <a:r>
              <a:rPr sz="1300" b="1">
                <a:solidFill>
                  <a:srgbClr val="181F2A"/>
                </a:solidFill>
                <a:latin typeface="Aptos Display"/>
              </a:rPr>
              <a:t>Deck source</a:t>
            </a:r>
          </a:p>
          <a:p>
            <a:pPr>
              <a:spcBef>
                <a:spcPts val="400"/>
              </a:spcBef>
              <a:defRPr sz="1050">
                <a:solidFill>
                  <a:srgbClr val="5B697A"/>
                </a:solidFill>
                <a:latin typeface="Aptos"/>
              </a:defRPr>
            </a:pPr>
            <a:r>
              <a:t>The slide content was derived from app architecture/ARCHITECTURE.md and condensed into editable diagrams and talking points.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425196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